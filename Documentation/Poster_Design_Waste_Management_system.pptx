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3891200" cx="32918400"/>
  <p:notesSz cx="6858000" cy="9144000"/>
  <p:embeddedFontLst>
    <p:embeddedFont>
      <p:font typeface="Poppins"/>
      <p:regular r:id="rId7"/>
      <p:bold r:id="rId8"/>
      <p:italic r:id="rId9"/>
      <p:boldItalic r:id="rId10"/>
    </p:embeddedFont>
    <p:embeddedFont>
      <p:font typeface="Jost SemiBol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824">
          <p15:clr>
            <a:srgbClr val="747775"/>
          </p15:clr>
        </p15:guide>
        <p15:guide id="2" pos="10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824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JostSemiBold-regular.fntdata"/><Relationship Id="rId10" Type="http://schemas.openxmlformats.org/officeDocument/2006/relationships/font" Target="fonts/Poppins-boldItalic.fntdata"/><Relationship Id="rId13" Type="http://schemas.openxmlformats.org/officeDocument/2006/relationships/font" Target="fonts/JostSemiBold-italic.fntdata"/><Relationship Id="rId12" Type="http://schemas.openxmlformats.org/officeDocument/2006/relationships/font" Target="fonts/Jos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oppins-italic.fntdata"/><Relationship Id="rId14" Type="http://schemas.openxmlformats.org/officeDocument/2006/relationships/font" Target="fonts/Jost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oppins-regular.fntdata"/><Relationship Id="rId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22150" y="6353707"/>
            <a:ext cx="30674100" cy="175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9475" lIns="479475" spcFirstLastPara="1" rIns="479475" wrap="square" tIns="479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271"/>
              <a:buNone/>
              <a:defRPr sz="27271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22120" y="24184533"/>
            <a:ext cx="30674100" cy="6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22120" y="18353920"/>
            <a:ext cx="30674100" cy="71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880"/>
              <a:buNone/>
              <a:defRPr sz="1888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122120" y="3797547"/>
            <a:ext cx="30674100" cy="4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22120" y="9834453"/>
            <a:ext cx="30674100" cy="29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indent="-82804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440"/>
              <a:buChar char="●"/>
              <a:defRPr sz="9440"/>
            </a:lvl1pPr>
            <a:lvl2pPr indent="-694817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2pPr>
            <a:lvl3pPr indent="-694817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3pPr>
            <a:lvl4pPr indent="-694817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4pPr>
            <a:lvl5pPr indent="-694817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5pPr>
            <a:lvl6pPr indent="-694817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6pPr>
            <a:lvl7pPr indent="-694817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7pPr>
            <a:lvl8pPr indent="-694817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8pPr>
            <a:lvl9pPr indent="-694817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122120" y="3797547"/>
            <a:ext cx="30674100" cy="4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122120" y="9834453"/>
            <a:ext cx="14399700" cy="29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indent="-694817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1pPr>
            <a:lvl2pPr indent="-628206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2pPr>
            <a:lvl3pPr indent="-628206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3pPr>
            <a:lvl4pPr indent="-62820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4pPr>
            <a:lvl5pPr indent="-62820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5pPr>
            <a:lvl6pPr indent="-62820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6pPr>
            <a:lvl7pPr indent="-62820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7pPr>
            <a:lvl8pPr indent="-62820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8pPr>
            <a:lvl9pPr indent="-62820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7396640" y="9834453"/>
            <a:ext cx="14399700" cy="29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indent="-694817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1pPr>
            <a:lvl2pPr indent="-628206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2pPr>
            <a:lvl3pPr indent="-628206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3pPr>
            <a:lvl4pPr indent="-62820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4pPr>
            <a:lvl5pPr indent="-62820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5pPr>
            <a:lvl6pPr indent="-62820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6pPr>
            <a:lvl7pPr indent="-62820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7pPr>
            <a:lvl8pPr indent="-62820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8pPr>
            <a:lvl9pPr indent="-62820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122120" y="3797547"/>
            <a:ext cx="30674100" cy="4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84"/>
              <a:buNone/>
              <a:defRPr sz="14684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122120" y="4741120"/>
            <a:ext cx="10108800" cy="64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79475" lIns="479475" spcFirstLastPara="1" rIns="479475" wrap="square" tIns="479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87"/>
              <a:buNone/>
              <a:defRPr sz="12587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122120" y="11857920"/>
            <a:ext cx="10108800" cy="27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indent="-628206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1pPr>
            <a:lvl2pPr indent="-628206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2pPr>
            <a:lvl3pPr indent="-628206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3pPr>
            <a:lvl4pPr indent="-628205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4pPr>
            <a:lvl5pPr indent="-628205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5pPr>
            <a:lvl6pPr indent="-628205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6pPr>
            <a:lvl7pPr indent="-628205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●"/>
              <a:defRPr sz="6293"/>
            </a:lvl7pPr>
            <a:lvl8pPr indent="-628205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○"/>
              <a:defRPr sz="6293"/>
            </a:lvl8pPr>
            <a:lvl9pPr indent="-628205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293"/>
              <a:buChar char="■"/>
              <a:defRPr sz="6293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764900" y="3841280"/>
            <a:ext cx="22924200" cy="349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173"/>
              <a:buNone/>
              <a:defRPr sz="25173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459200" y="-1067"/>
            <a:ext cx="16459200" cy="4389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79475" lIns="479475" spcFirstLastPara="1" rIns="479475" wrap="square" tIns="479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955800" y="10523093"/>
            <a:ext cx="14562600" cy="126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79475" lIns="479475" spcFirstLastPara="1" rIns="479475" wrap="square" tIns="479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27"/>
              <a:buNone/>
              <a:defRPr sz="22027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55800" y="23919573"/>
            <a:ext cx="14562600" cy="105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13"/>
              <a:buNone/>
              <a:defRPr sz="11013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7782200" y="6178773"/>
            <a:ext cx="13813200" cy="315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-82804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440"/>
              <a:buChar char="●"/>
              <a:defRPr sz="9440"/>
            </a:lvl1pPr>
            <a:lvl2pPr indent="-694817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2pPr>
            <a:lvl3pPr indent="-694817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3pPr>
            <a:lvl4pPr indent="-694817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4pPr>
            <a:lvl5pPr indent="-694817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5pPr>
            <a:lvl6pPr indent="-694817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6pPr>
            <a:lvl7pPr indent="-694817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7pPr>
            <a:lvl8pPr indent="-694817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8pPr>
            <a:lvl9pPr indent="-694817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122120" y="36100907"/>
            <a:ext cx="21595800" cy="51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40"/>
              <a:buNone/>
              <a:defRPr sz="944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122120" y="9438933"/>
            <a:ext cx="30674100" cy="167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79475" lIns="479475" spcFirstLastPara="1" rIns="479475" wrap="square" tIns="479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933"/>
              <a:buNone/>
              <a:defRPr sz="6293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122120" y="26898987"/>
            <a:ext cx="30674100" cy="111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indent="-82804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440"/>
              <a:buChar char="●"/>
              <a:defRPr sz="9440"/>
            </a:lvl1pPr>
            <a:lvl2pPr indent="-694817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2pPr>
            <a:lvl3pPr indent="-694817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3pPr>
            <a:lvl4pPr indent="-694817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4pPr>
            <a:lvl5pPr indent="-694817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5pPr>
            <a:lvl6pPr indent="-694817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6pPr>
            <a:lvl7pPr indent="-694817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●"/>
              <a:defRPr sz="7342"/>
            </a:lvl7pPr>
            <a:lvl8pPr indent="-694817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○"/>
              <a:defRPr sz="7342"/>
            </a:lvl8pPr>
            <a:lvl9pPr indent="-694817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342"/>
              <a:buChar char="■"/>
              <a:defRPr sz="7342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22120" y="3797547"/>
            <a:ext cx="30674100" cy="4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Font typeface="Arial"/>
              <a:buNone/>
              <a:defRPr b="0" i="0" sz="146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Font typeface="Arial"/>
              <a:buNone/>
              <a:defRPr b="0" i="0" sz="146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Font typeface="Arial"/>
              <a:buNone/>
              <a:defRPr b="0" i="0" sz="146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Font typeface="Arial"/>
              <a:buNone/>
              <a:defRPr b="0" i="0" sz="146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Font typeface="Arial"/>
              <a:buNone/>
              <a:defRPr b="0" i="0" sz="146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Font typeface="Arial"/>
              <a:buNone/>
              <a:defRPr b="0" i="0" sz="146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Font typeface="Arial"/>
              <a:buNone/>
              <a:defRPr b="0" i="0" sz="146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Font typeface="Arial"/>
              <a:buNone/>
              <a:defRPr b="0" i="0" sz="146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684"/>
              <a:buFont typeface="Arial"/>
              <a:buNone/>
              <a:defRPr b="0" i="0" sz="1468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22120" y="9834453"/>
            <a:ext cx="30674100" cy="29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9475" lIns="479475" spcFirstLastPara="1" rIns="479475" wrap="square" tIns="479475">
            <a:normAutofit/>
          </a:bodyPr>
          <a:lstStyle>
            <a:lvl1pPr indent="-82804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440"/>
              <a:buFont typeface="Arial"/>
              <a:buChar char="●"/>
              <a:defRPr b="0" i="0" sz="944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69481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Font typeface="Arial"/>
              <a:buChar char="○"/>
              <a:defRPr b="0" i="0" sz="734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694817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Font typeface="Arial"/>
              <a:buChar char="■"/>
              <a:defRPr b="0" i="0" sz="734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694817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Font typeface="Arial"/>
              <a:buChar char="●"/>
              <a:defRPr b="0" i="0" sz="734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694817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Font typeface="Arial"/>
              <a:buChar char="○"/>
              <a:defRPr b="0" i="0" sz="734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694817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Font typeface="Arial"/>
              <a:buChar char="■"/>
              <a:defRPr b="0" i="0" sz="734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694817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Font typeface="Arial"/>
              <a:buChar char="●"/>
              <a:defRPr b="0" i="0" sz="734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694817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Font typeface="Arial"/>
              <a:buChar char="○"/>
              <a:defRPr b="0" i="0" sz="734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694817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342"/>
              <a:buFont typeface="Arial"/>
              <a:buChar char="■"/>
              <a:defRPr b="0" i="0" sz="7342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500848" y="39792783"/>
            <a:ext cx="1975200" cy="3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9475" lIns="479475" spcFirstLastPara="1" rIns="479475" wrap="square" tIns="4794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44"/>
              <a:buFont typeface="Arial"/>
              <a:buNone/>
              <a:defRPr b="0" i="0" sz="524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15" Type="http://schemas.openxmlformats.org/officeDocument/2006/relationships/image" Target="../media/image13.png"/><Relationship Id="rId14" Type="http://schemas.openxmlformats.org/officeDocument/2006/relationships/image" Target="../media/image10.png"/><Relationship Id="rId17" Type="http://schemas.openxmlformats.org/officeDocument/2006/relationships/image" Target="../media/image14.png"/><Relationship Id="rId16" Type="http://schemas.openxmlformats.org/officeDocument/2006/relationships/image" Target="../media/image15.png"/><Relationship Id="rId5" Type="http://schemas.openxmlformats.org/officeDocument/2006/relationships/image" Target="../media/image5.png"/><Relationship Id="rId19" Type="http://schemas.openxmlformats.org/officeDocument/2006/relationships/image" Target="../media/image11.png"/><Relationship Id="rId6" Type="http://schemas.openxmlformats.org/officeDocument/2006/relationships/image" Target="../media/image8.png"/><Relationship Id="rId18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4175" y="2975"/>
            <a:ext cx="32967300" cy="43891200"/>
          </a:xfrm>
          <a:prstGeom prst="rect">
            <a:avLst/>
          </a:prstGeom>
          <a:solidFill>
            <a:srgbClr val="F8FBF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025" y="0"/>
            <a:ext cx="32957400" cy="3214200"/>
          </a:xfrm>
          <a:prstGeom prst="rect">
            <a:avLst/>
          </a:prstGeom>
          <a:gradFill>
            <a:gsLst>
              <a:gs pos="0">
                <a:srgbClr val="2E94C2"/>
              </a:gs>
              <a:gs pos="100000">
                <a:srgbClr val="3DC79D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735850" y="366375"/>
            <a:ext cx="20748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40"/>
              <a:buFont typeface="Arial"/>
              <a:buNone/>
            </a:pPr>
            <a:r>
              <a:rPr b="1" i="0" lang="en" sz="664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EcoWaste - Smart Waste Management System</a:t>
            </a:r>
            <a:endParaRPr b="1" i="0" sz="664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" name="Google Shape;57;p13" title="images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650" y="845100"/>
            <a:ext cx="391884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cropped_circle_imag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35900" y="788880"/>
            <a:ext cx="1636500" cy="1636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8241939" y="1624863"/>
            <a:ext cx="19283053" cy="1504912"/>
            <a:chOff x="7505339" y="1478325"/>
            <a:chExt cx="19283053" cy="1504912"/>
          </a:xfrm>
        </p:grpSpPr>
        <p:sp>
          <p:nvSpPr>
            <p:cNvPr id="60" name="Google Shape;60;p13"/>
            <p:cNvSpPr txBox="1"/>
            <p:nvPr/>
          </p:nvSpPr>
          <p:spPr>
            <a:xfrm>
              <a:off x="7505339" y="1484437"/>
              <a:ext cx="9070500" cy="14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4381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300"/>
                <a:buFont typeface="Poppins"/>
                <a:buChar char="●"/>
              </a:pPr>
              <a:r>
                <a:rPr b="0" i="0" lang="en" sz="33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Nilandu Kumar Das Vapon - 231902031</a:t>
              </a:r>
              <a:endParaRPr b="0" i="0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4381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300"/>
                <a:buFont typeface="Poppins"/>
                <a:buChar char="●"/>
              </a:pPr>
              <a:r>
                <a:rPr b="0" i="0" lang="en" sz="33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Asfiqul Alam Emran - 23190249</a:t>
              </a:r>
              <a:endParaRPr b="0" i="0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" name="Google Shape;61;p13"/>
            <p:cNvSpPr txBox="1"/>
            <p:nvPr/>
          </p:nvSpPr>
          <p:spPr>
            <a:xfrm>
              <a:off x="16989192" y="1478325"/>
              <a:ext cx="9799200" cy="149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4445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Poppins"/>
                <a:buChar char="●"/>
              </a:pPr>
              <a:r>
                <a:rPr b="0" i="0" lang="en" sz="33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Rahat Perves Rahi - 231002043</a:t>
              </a:r>
              <a:r>
                <a:rPr b="0" i="0" lang="en" sz="1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 b="0" i="0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4445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Poppins"/>
                <a:buChar char="●"/>
              </a:pPr>
              <a:r>
                <a:rPr b="0" i="0" lang="en" sz="33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Saiful Islam - 231902065</a:t>
              </a:r>
              <a:r>
                <a:rPr b="0" i="0" lang="en" sz="1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endParaRPr b="0" i="0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2" name="Google Shape;62;p13"/>
          <p:cNvGrpSpPr/>
          <p:nvPr/>
        </p:nvGrpSpPr>
        <p:grpSpPr>
          <a:xfrm>
            <a:off x="406800" y="3568380"/>
            <a:ext cx="10164475" cy="39893592"/>
            <a:chOff x="406800" y="3568526"/>
            <a:chExt cx="10164475" cy="39742571"/>
          </a:xfrm>
        </p:grpSpPr>
        <p:grpSp>
          <p:nvGrpSpPr>
            <p:cNvPr id="63" name="Google Shape;63;p13"/>
            <p:cNvGrpSpPr/>
            <p:nvPr/>
          </p:nvGrpSpPr>
          <p:grpSpPr>
            <a:xfrm>
              <a:off x="408775" y="30255214"/>
              <a:ext cx="10162500" cy="6373561"/>
              <a:chOff x="406810" y="3568390"/>
              <a:chExt cx="10162500" cy="6519600"/>
            </a:xfrm>
          </p:grpSpPr>
          <p:sp>
            <p:nvSpPr>
              <p:cNvPr id="64" name="Google Shape;64;p13"/>
              <p:cNvSpPr/>
              <p:nvPr/>
            </p:nvSpPr>
            <p:spPr>
              <a:xfrm>
                <a:off x="406810" y="3568390"/>
                <a:ext cx="10162500" cy="6519600"/>
              </a:xfrm>
              <a:prstGeom prst="roundRect">
                <a:avLst>
                  <a:gd fmla="val 8300" name="adj"/>
                </a:avLst>
              </a:prstGeom>
              <a:gradFill>
                <a:gsLst>
                  <a:gs pos="0">
                    <a:srgbClr val="E3FFFC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CD8A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13"/>
              <p:cNvSpPr txBox="1"/>
              <p:nvPr/>
            </p:nvSpPr>
            <p:spPr>
              <a:xfrm>
                <a:off x="621989" y="3789856"/>
                <a:ext cx="9633600" cy="78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rPr b="1" i="0" lang="en" sz="3540" u="none" cap="none" strike="noStrike">
                    <a:solidFill>
                      <a:srgbClr val="1F8F6E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Features</a:t>
                </a:r>
                <a:endParaRPr b="1" i="0" sz="3540" u="none" cap="none" strike="noStrike">
                  <a:solidFill>
                    <a:srgbClr val="1F8F6E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6" name="Google Shape;66;p13"/>
              <p:cNvSpPr txBox="1"/>
              <p:nvPr/>
            </p:nvSpPr>
            <p:spPr>
              <a:xfrm>
                <a:off x="936535" y="4855373"/>
                <a:ext cx="9004500" cy="482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-40640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b="1"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Real-time monitoring</a:t>
                </a: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of waste bins with fill-level and status updates.</a:t>
                </a:r>
                <a:endParaRPr sz="1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b="1"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Role-based dashboards</a:t>
                </a: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for citizens, collectors, and administrators.</a:t>
                </a:r>
                <a:endParaRPr sz="1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b="1"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Complaint submission</a:t>
                </a: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, tracking, and resolution workflow</a:t>
                </a: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.</a:t>
                </a:r>
                <a:endParaRPr sz="1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b="1"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Smart collection scheduling</a:t>
                </a: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with task management and notifications.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67" name="Google Shape;67;p13"/>
              <p:cNvCxnSpPr/>
              <p:nvPr/>
            </p:nvCxnSpPr>
            <p:spPr>
              <a:xfrm>
                <a:off x="1541125" y="4714270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8F6E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8" name="Google Shape;68;p13"/>
            <p:cNvGrpSpPr/>
            <p:nvPr/>
          </p:nvGrpSpPr>
          <p:grpSpPr>
            <a:xfrm>
              <a:off x="408775" y="36937536"/>
              <a:ext cx="10162500" cy="6373561"/>
              <a:chOff x="406810" y="10403826"/>
              <a:chExt cx="10162500" cy="6519600"/>
            </a:xfrm>
          </p:grpSpPr>
          <p:sp>
            <p:nvSpPr>
              <p:cNvPr id="69" name="Google Shape;69;p13"/>
              <p:cNvSpPr/>
              <p:nvPr/>
            </p:nvSpPr>
            <p:spPr>
              <a:xfrm>
                <a:off x="406810" y="10403826"/>
                <a:ext cx="10162500" cy="6519600"/>
              </a:xfrm>
              <a:prstGeom prst="roundRect">
                <a:avLst>
                  <a:gd fmla="val 8300" name="adj"/>
                </a:avLst>
              </a:prstGeom>
              <a:gradFill>
                <a:gsLst>
                  <a:gs pos="0">
                    <a:srgbClr val="E3F1FF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3B1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621989" y="10625292"/>
                <a:ext cx="9633600" cy="78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rPr b="1" lang="en" sz="3540">
                    <a:solidFill>
                      <a:srgbClr val="1F67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Social Impact</a:t>
                </a:r>
                <a:endParaRPr b="1" sz="3540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t/>
                </a:r>
                <a:endParaRPr b="1" sz="3540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1" name="Google Shape;71;p13"/>
              <p:cNvSpPr txBox="1"/>
              <p:nvPr/>
            </p:nvSpPr>
            <p:spPr>
              <a:xfrm>
                <a:off x="1022662" y="11825350"/>
                <a:ext cx="8930700" cy="482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-406400" lvl="0" marL="457200" rtl="0" algn="just"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Improves urban cleanliness by reducing bin overflow and delays.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457200" rtl="0" algn="just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just"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Encourages active citizen participation in waste reporting.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457200" rtl="0" algn="just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just"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Minimizes environmental pollution through efficient collection.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457200" rtl="0" algn="just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just"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Supports sustainable and smart city development initiatives.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just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900"/>
                  <a:buFont typeface="Arial"/>
                  <a:buNone/>
                </a:pPr>
                <a:r>
                  <a:t/>
                </a:r>
                <a:endParaRPr sz="29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900"/>
                  <a:buFont typeface="Arial"/>
                  <a:buNone/>
                </a:pPr>
                <a:r>
                  <a:t/>
                </a:r>
                <a:endParaRPr sz="29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72" name="Google Shape;72;p13"/>
              <p:cNvCxnSpPr/>
              <p:nvPr/>
            </p:nvCxnSpPr>
            <p:spPr>
              <a:xfrm>
                <a:off x="1541125" y="11544995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678F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3" name="Google Shape;73;p13"/>
            <p:cNvGrpSpPr/>
            <p:nvPr/>
          </p:nvGrpSpPr>
          <p:grpSpPr>
            <a:xfrm>
              <a:off x="406800" y="3568526"/>
              <a:ext cx="10162527" cy="6373575"/>
              <a:chOff x="406810" y="3568390"/>
              <a:chExt cx="10162527" cy="6519614"/>
            </a:xfrm>
          </p:grpSpPr>
          <p:sp>
            <p:nvSpPr>
              <p:cNvPr id="74" name="Google Shape;74;p13"/>
              <p:cNvSpPr/>
              <p:nvPr/>
            </p:nvSpPr>
            <p:spPr>
              <a:xfrm>
                <a:off x="406810" y="3568390"/>
                <a:ext cx="10162527" cy="6519614"/>
              </a:xfrm>
              <a:prstGeom prst="roundRect">
                <a:avLst>
                  <a:gd fmla="val 8300" name="adj"/>
                </a:avLst>
              </a:prstGeom>
              <a:gradFill>
                <a:gsLst>
                  <a:gs pos="0">
                    <a:srgbClr val="E3FFFC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CD8A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3"/>
              <p:cNvSpPr txBox="1"/>
              <p:nvPr/>
            </p:nvSpPr>
            <p:spPr>
              <a:xfrm>
                <a:off x="621989" y="3789856"/>
                <a:ext cx="9633507" cy="7832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rPr b="1" i="0" lang="en" sz="3540" u="none" cap="none" strike="noStrike">
                    <a:solidFill>
                      <a:srgbClr val="1F8F6E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Abstract</a:t>
                </a:r>
                <a:endParaRPr b="1" i="0" sz="3540" u="none" cap="none" strike="noStrike">
                  <a:solidFill>
                    <a:srgbClr val="1F8F6E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6" name="Google Shape;76;p13"/>
              <p:cNvSpPr txBox="1"/>
              <p:nvPr/>
            </p:nvSpPr>
            <p:spPr>
              <a:xfrm>
                <a:off x="1022662" y="5104107"/>
                <a:ext cx="8930700" cy="482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-40640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Integrates IoT sensors and a web platform to monitor waste bins in real time.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Enables optimized collection scheduling and reduces overflow and manual effort.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Provides a scalable, data-driven solution for efficient urban waste management.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77" name="Google Shape;77;p13"/>
              <p:cNvCxnSpPr/>
              <p:nvPr/>
            </p:nvCxnSpPr>
            <p:spPr>
              <a:xfrm>
                <a:off x="1541125" y="4714270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8F6E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13"/>
            <p:cNvGrpSpPr/>
            <p:nvPr/>
          </p:nvGrpSpPr>
          <p:grpSpPr>
            <a:xfrm>
              <a:off x="406800" y="10250848"/>
              <a:ext cx="10162527" cy="6373575"/>
              <a:chOff x="406810" y="10403826"/>
              <a:chExt cx="10162527" cy="6519614"/>
            </a:xfrm>
          </p:grpSpPr>
          <p:sp>
            <p:nvSpPr>
              <p:cNvPr id="79" name="Google Shape;79;p13"/>
              <p:cNvSpPr/>
              <p:nvPr/>
            </p:nvSpPr>
            <p:spPr>
              <a:xfrm>
                <a:off x="406810" y="10403826"/>
                <a:ext cx="10162527" cy="6519614"/>
              </a:xfrm>
              <a:prstGeom prst="roundRect">
                <a:avLst>
                  <a:gd fmla="val 8300" name="adj"/>
                </a:avLst>
              </a:prstGeom>
              <a:gradFill>
                <a:gsLst>
                  <a:gs pos="0">
                    <a:srgbClr val="E3F1FF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3B1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3"/>
              <p:cNvSpPr txBox="1"/>
              <p:nvPr/>
            </p:nvSpPr>
            <p:spPr>
              <a:xfrm>
                <a:off x="621989" y="10625292"/>
                <a:ext cx="9633507" cy="7832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rPr b="1" i="0" lang="en" sz="3540" u="none" cap="none" strike="noStrike">
                    <a:solidFill>
                      <a:srgbClr val="1F67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Problem Domain</a:t>
                </a:r>
                <a:endParaRPr b="1" i="0" sz="3540" u="none" cap="none" strike="noStrike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t/>
                </a:r>
                <a:endParaRPr b="1" i="0" sz="3540" u="none" cap="none" strike="noStrike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1" name="Google Shape;81;p13"/>
              <p:cNvSpPr txBox="1"/>
              <p:nvPr/>
            </p:nvSpPr>
            <p:spPr>
              <a:xfrm>
                <a:off x="1022662" y="11825350"/>
                <a:ext cx="8930814" cy="48237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-40640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Traditional systems rely on fixed schedules, causing inefficient waste collection.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Lack of real-time monitoring leads to bin overflow and resource wastage.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l">
                  <a:lnSpc>
                    <a:spcPct val="115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Limited citizen involvement in reporting and tracking waste-related issues.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82" name="Google Shape;82;p13"/>
              <p:cNvCxnSpPr/>
              <p:nvPr/>
            </p:nvCxnSpPr>
            <p:spPr>
              <a:xfrm>
                <a:off x="1541125" y="11544995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678F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3" name="Google Shape;83;p13"/>
            <p:cNvGrpSpPr/>
            <p:nvPr/>
          </p:nvGrpSpPr>
          <p:grpSpPr>
            <a:xfrm>
              <a:off x="407357" y="16922605"/>
              <a:ext cx="10162500" cy="6373561"/>
              <a:chOff x="406810" y="3568390"/>
              <a:chExt cx="10162500" cy="6519600"/>
            </a:xfrm>
          </p:grpSpPr>
          <p:sp>
            <p:nvSpPr>
              <p:cNvPr id="84" name="Google Shape;84;p13"/>
              <p:cNvSpPr/>
              <p:nvPr/>
            </p:nvSpPr>
            <p:spPr>
              <a:xfrm>
                <a:off x="406810" y="3568390"/>
                <a:ext cx="10162500" cy="6519600"/>
              </a:xfrm>
              <a:prstGeom prst="roundRect">
                <a:avLst>
                  <a:gd fmla="val 8300" name="adj"/>
                </a:avLst>
              </a:prstGeom>
              <a:gradFill>
                <a:gsLst>
                  <a:gs pos="0">
                    <a:srgbClr val="E3FFFC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CD8A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3"/>
              <p:cNvSpPr txBox="1"/>
              <p:nvPr/>
            </p:nvSpPr>
            <p:spPr>
              <a:xfrm>
                <a:off x="621989" y="3789856"/>
                <a:ext cx="9633600" cy="78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rPr b="1" i="0" lang="en" sz="3540" u="none" cap="none" strike="noStrike">
                    <a:solidFill>
                      <a:srgbClr val="1F8F6E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Motivation &amp; Objective</a:t>
                </a:r>
                <a:endParaRPr b="1" i="0" sz="3540" u="none" cap="none" strike="noStrike">
                  <a:solidFill>
                    <a:srgbClr val="1F8F6E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6" name="Google Shape;86;p13"/>
              <p:cNvSpPr txBox="1"/>
              <p:nvPr/>
            </p:nvSpPr>
            <p:spPr>
              <a:xfrm>
                <a:off x="1022662" y="4989914"/>
                <a:ext cx="8930700" cy="482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-4064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Develop a smart system to improve efficiency using real-time data.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45720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Enable optimized scheduling and better communication between users and collectors.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45720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Enhance transparency, reduce environmental impact, and improve service quality.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t/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87" name="Google Shape;87;p13"/>
              <p:cNvCxnSpPr/>
              <p:nvPr/>
            </p:nvCxnSpPr>
            <p:spPr>
              <a:xfrm>
                <a:off x="1541125" y="4714270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8F6E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8" name="Google Shape;88;p13"/>
            <p:cNvGrpSpPr/>
            <p:nvPr/>
          </p:nvGrpSpPr>
          <p:grpSpPr>
            <a:xfrm>
              <a:off x="407357" y="23604927"/>
              <a:ext cx="10162500" cy="6373561"/>
              <a:chOff x="406810" y="10403826"/>
              <a:chExt cx="10162500" cy="6519600"/>
            </a:xfrm>
          </p:grpSpPr>
          <p:sp>
            <p:nvSpPr>
              <p:cNvPr id="89" name="Google Shape;89;p13"/>
              <p:cNvSpPr/>
              <p:nvPr/>
            </p:nvSpPr>
            <p:spPr>
              <a:xfrm>
                <a:off x="406810" y="10403826"/>
                <a:ext cx="10162500" cy="6519600"/>
              </a:xfrm>
              <a:prstGeom prst="roundRect">
                <a:avLst>
                  <a:gd fmla="val 8300" name="adj"/>
                </a:avLst>
              </a:prstGeom>
              <a:gradFill>
                <a:gsLst>
                  <a:gs pos="0">
                    <a:srgbClr val="E3F1FF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3B1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3"/>
              <p:cNvSpPr txBox="1"/>
              <p:nvPr/>
            </p:nvSpPr>
            <p:spPr>
              <a:xfrm>
                <a:off x="621989" y="10625292"/>
                <a:ext cx="9633600" cy="78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rPr b="1" i="0" lang="en" sz="3540" u="none" cap="none" strike="noStrike">
                    <a:solidFill>
                      <a:srgbClr val="1F67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Tools And Technology</a:t>
                </a:r>
                <a:endParaRPr b="1" i="0" sz="3540" u="none" cap="none" strike="noStrike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91" name="Google Shape;91;p13"/>
              <p:cNvSpPr txBox="1"/>
              <p:nvPr/>
            </p:nvSpPr>
            <p:spPr>
              <a:xfrm>
                <a:off x="1022662" y="11987123"/>
                <a:ext cx="8930700" cy="482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-40640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b="1"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Frontend:</a:t>
                </a: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React, TypeScript, Tailwind CSS for responsive UI design.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b="1"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Backend:</a:t>
                </a: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Supabase for authentication, database, and real-time services.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-40640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C343D"/>
                  </a:buClr>
                  <a:buSzPts val="2800"/>
                  <a:buFont typeface="Poppins"/>
                  <a:buChar char="●"/>
                </a:pPr>
                <a:r>
                  <a:rPr lang="en" sz="2800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Modular architecture for scalability, maintainability, and future upgrades.</a:t>
                </a:r>
                <a:endParaRPr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92" name="Google Shape;92;p13"/>
              <p:cNvCxnSpPr/>
              <p:nvPr/>
            </p:nvCxnSpPr>
            <p:spPr>
              <a:xfrm>
                <a:off x="1541125" y="11544995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678F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93" name="Google Shape;93;p13"/>
          <p:cNvGrpSpPr/>
          <p:nvPr/>
        </p:nvGrpSpPr>
        <p:grpSpPr>
          <a:xfrm>
            <a:off x="22377475" y="3570773"/>
            <a:ext cx="10164450" cy="39894290"/>
            <a:chOff x="406837" y="3654745"/>
            <a:chExt cx="10164450" cy="39656352"/>
          </a:xfrm>
        </p:grpSpPr>
        <p:grpSp>
          <p:nvGrpSpPr>
            <p:cNvPr id="94" name="Google Shape;94;p13"/>
            <p:cNvGrpSpPr/>
            <p:nvPr/>
          </p:nvGrpSpPr>
          <p:grpSpPr>
            <a:xfrm>
              <a:off x="408787" y="29557861"/>
              <a:ext cx="10162500" cy="7070981"/>
              <a:chOff x="406822" y="2855058"/>
              <a:chExt cx="10162500" cy="7233000"/>
            </a:xfrm>
          </p:grpSpPr>
          <p:sp>
            <p:nvSpPr>
              <p:cNvPr id="95" name="Google Shape;95;p13"/>
              <p:cNvSpPr/>
              <p:nvPr/>
            </p:nvSpPr>
            <p:spPr>
              <a:xfrm>
                <a:off x="406822" y="2855058"/>
                <a:ext cx="10162500" cy="7233000"/>
              </a:xfrm>
              <a:prstGeom prst="roundRect">
                <a:avLst>
                  <a:gd fmla="val 8300" name="adj"/>
                </a:avLst>
              </a:prstGeom>
              <a:gradFill>
                <a:gsLst>
                  <a:gs pos="0">
                    <a:srgbClr val="E3FFFC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CD8A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3"/>
              <p:cNvSpPr txBox="1"/>
              <p:nvPr/>
            </p:nvSpPr>
            <p:spPr>
              <a:xfrm>
                <a:off x="620564" y="2962557"/>
                <a:ext cx="9633600" cy="78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rPr b="1" lang="en" sz="3540">
                    <a:solidFill>
                      <a:srgbClr val="1F8F6E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Test Case</a:t>
                </a:r>
                <a:endParaRPr b="1" sz="3540">
                  <a:solidFill>
                    <a:srgbClr val="1F8F6E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t/>
                </a:r>
                <a:endParaRPr b="1" sz="3540">
                  <a:solidFill>
                    <a:srgbClr val="1F8F6E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97" name="Google Shape;97;p13"/>
              <p:cNvCxnSpPr/>
              <p:nvPr/>
            </p:nvCxnSpPr>
            <p:spPr>
              <a:xfrm>
                <a:off x="1541125" y="3860110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8F6E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8" name="Google Shape;98;p13"/>
            <p:cNvGrpSpPr/>
            <p:nvPr/>
          </p:nvGrpSpPr>
          <p:grpSpPr>
            <a:xfrm>
              <a:off x="408775" y="36937536"/>
              <a:ext cx="10162500" cy="6373561"/>
              <a:chOff x="406810" y="10403826"/>
              <a:chExt cx="10162500" cy="6519600"/>
            </a:xfrm>
          </p:grpSpPr>
          <p:sp>
            <p:nvSpPr>
              <p:cNvPr id="99" name="Google Shape;99;p13"/>
              <p:cNvSpPr/>
              <p:nvPr/>
            </p:nvSpPr>
            <p:spPr>
              <a:xfrm>
                <a:off x="406810" y="10403826"/>
                <a:ext cx="10162500" cy="6519600"/>
              </a:xfrm>
              <a:prstGeom prst="roundRect">
                <a:avLst>
                  <a:gd fmla="val 8300" name="adj"/>
                </a:avLst>
              </a:prstGeom>
              <a:gradFill>
                <a:gsLst>
                  <a:gs pos="0">
                    <a:srgbClr val="E3F1FF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3B1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3"/>
              <p:cNvSpPr txBox="1"/>
              <p:nvPr/>
            </p:nvSpPr>
            <p:spPr>
              <a:xfrm>
                <a:off x="621989" y="10625292"/>
                <a:ext cx="9633600" cy="78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rPr b="1" i="0" lang="en" sz="3540" u="none" cap="none" strike="noStrike">
                    <a:solidFill>
                      <a:srgbClr val="1F67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Reference</a:t>
                </a:r>
                <a:endParaRPr b="1" i="0" sz="3540" u="none" cap="none" strike="noStrike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1" name="Google Shape;101;p13"/>
              <p:cNvSpPr txBox="1"/>
              <p:nvPr/>
            </p:nvSpPr>
            <p:spPr>
              <a:xfrm>
                <a:off x="1022662" y="11825350"/>
                <a:ext cx="8930700" cy="482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rPr b="0" i="0" lang="en" sz="2500" u="none" cap="none" strike="noStrike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[1] M. Faccio, A. Persona, and F. Zanin, “Waste collection multi objective model with real time traceability data,” Waste Management, vol. 31, no. 12, pp. 2391–2405, 2011.</a:t>
                </a:r>
                <a:endParaRPr b="0" i="0" sz="2500" u="none" cap="none" strike="noStrike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t/>
                </a:r>
                <a:endParaRPr b="0" i="0" sz="2500" u="none" cap="none" strike="noStrike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rPr b="0" i="0" lang="en" sz="2500" u="none" cap="none" strike="noStrike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[2] S. Longhi et al., “Solid waste management architecture using wireless sensor network technology,” Proc. IEEE ICINCO, pp. 1–5, 2012.</a:t>
                </a:r>
                <a:endParaRPr b="0" i="0" sz="2500" u="none" cap="none" strike="noStrike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t/>
                </a:r>
                <a:endParaRPr b="0" i="0" sz="2500" u="none" cap="none" strike="noStrike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rPr b="0" i="0" lang="en" sz="2500" u="none" cap="none" strike="noStrike">
                    <a:solidFill>
                      <a:srgbClr val="0C343D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[3] A. Medvedev et al., “Waste management as an IoT-enabled service in smart cities,” Proc. IoT Conf., pp. 1–7, 2015.</a:t>
                </a:r>
                <a:endParaRPr b="0" i="0" sz="2500" u="none" cap="none" strike="noStrike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02" name="Google Shape;102;p13"/>
              <p:cNvCxnSpPr/>
              <p:nvPr/>
            </p:nvCxnSpPr>
            <p:spPr>
              <a:xfrm>
                <a:off x="1541125" y="11544995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678F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3" name="Google Shape;103;p13"/>
            <p:cNvGrpSpPr/>
            <p:nvPr/>
          </p:nvGrpSpPr>
          <p:grpSpPr>
            <a:xfrm>
              <a:off x="406837" y="3654745"/>
              <a:ext cx="10162500" cy="8100394"/>
              <a:chOff x="406847" y="3656585"/>
              <a:chExt cx="10162500" cy="8286000"/>
            </a:xfrm>
          </p:grpSpPr>
          <p:sp>
            <p:nvSpPr>
              <p:cNvPr id="104" name="Google Shape;104;p13"/>
              <p:cNvSpPr/>
              <p:nvPr/>
            </p:nvSpPr>
            <p:spPr>
              <a:xfrm>
                <a:off x="406847" y="3656585"/>
                <a:ext cx="10162500" cy="8286000"/>
              </a:xfrm>
              <a:prstGeom prst="roundRect">
                <a:avLst>
                  <a:gd fmla="val 7402" name="adj"/>
                </a:avLst>
              </a:prstGeom>
              <a:gradFill>
                <a:gsLst>
                  <a:gs pos="0">
                    <a:srgbClr val="E3F1FF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3B1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3"/>
              <p:cNvSpPr txBox="1"/>
              <p:nvPr/>
            </p:nvSpPr>
            <p:spPr>
              <a:xfrm>
                <a:off x="535414" y="3811832"/>
                <a:ext cx="9633600" cy="78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rPr b="1" i="0" lang="en" sz="3540" u="none" cap="none" strike="noStrike">
                    <a:solidFill>
                      <a:srgbClr val="1F678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Class Diagram</a:t>
                </a:r>
                <a:endParaRPr b="1" i="0" sz="3540" u="none" cap="none" strike="noStrike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t/>
                </a:r>
                <a:endParaRPr b="1" i="0" sz="3540" u="none" cap="none" strike="noStrike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06" name="Google Shape;106;p13"/>
              <p:cNvCxnSpPr/>
              <p:nvPr/>
            </p:nvCxnSpPr>
            <p:spPr>
              <a:xfrm>
                <a:off x="1391050" y="4651629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678F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7" name="Google Shape;107;p13"/>
            <p:cNvGrpSpPr/>
            <p:nvPr/>
          </p:nvGrpSpPr>
          <p:grpSpPr>
            <a:xfrm>
              <a:off x="406837" y="12057363"/>
              <a:ext cx="10162500" cy="8623898"/>
              <a:chOff x="406290" y="-1408330"/>
              <a:chExt cx="10162500" cy="8821500"/>
            </a:xfrm>
          </p:grpSpPr>
          <p:sp>
            <p:nvSpPr>
              <p:cNvPr id="108" name="Google Shape;108;p13"/>
              <p:cNvSpPr/>
              <p:nvPr/>
            </p:nvSpPr>
            <p:spPr>
              <a:xfrm>
                <a:off x="406290" y="-1408330"/>
                <a:ext cx="10162500" cy="8821500"/>
              </a:xfrm>
              <a:prstGeom prst="roundRect">
                <a:avLst>
                  <a:gd fmla="val 8300" name="adj"/>
                </a:avLst>
              </a:prstGeom>
              <a:gradFill>
                <a:gsLst>
                  <a:gs pos="0">
                    <a:srgbClr val="E3FFFC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CD8A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3"/>
              <p:cNvSpPr txBox="1"/>
              <p:nvPr/>
            </p:nvSpPr>
            <p:spPr>
              <a:xfrm>
                <a:off x="621989" y="-1268357"/>
                <a:ext cx="9633600" cy="78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rPr b="1" lang="en" sz="3540">
                    <a:solidFill>
                      <a:srgbClr val="1F8F6E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High Level </a:t>
                </a:r>
                <a:r>
                  <a:rPr b="1" i="0" lang="en" sz="3540" u="none" cap="none" strike="noStrike">
                    <a:solidFill>
                      <a:srgbClr val="1F8F6E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Diagram</a:t>
                </a:r>
                <a:endParaRPr b="1" i="0" sz="3540" u="none" cap="none" strike="noStrike">
                  <a:solidFill>
                    <a:srgbClr val="1F8F6E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t/>
                </a:r>
                <a:endParaRPr b="1" i="0" sz="3540" u="none" cap="none" strike="noStrike">
                  <a:solidFill>
                    <a:srgbClr val="1F8F6E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10" name="Google Shape;110;p13"/>
              <p:cNvCxnSpPr/>
              <p:nvPr/>
            </p:nvCxnSpPr>
            <p:spPr>
              <a:xfrm>
                <a:off x="1540600" y="-322136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8F6E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1" name="Google Shape;111;p13"/>
            <p:cNvGrpSpPr/>
            <p:nvPr/>
          </p:nvGrpSpPr>
          <p:grpSpPr>
            <a:xfrm>
              <a:off x="406837" y="21018536"/>
              <a:ext cx="10162500" cy="8246740"/>
              <a:chOff x="406290" y="7758172"/>
              <a:chExt cx="10162500" cy="8435700"/>
            </a:xfrm>
          </p:grpSpPr>
          <p:sp>
            <p:nvSpPr>
              <p:cNvPr id="112" name="Google Shape;112;p13"/>
              <p:cNvSpPr/>
              <p:nvPr/>
            </p:nvSpPr>
            <p:spPr>
              <a:xfrm>
                <a:off x="406290" y="7758172"/>
                <a:ext cx="10162500" cy="8435700"/>
              </a:xfrm>
              <a:prstGeom prst="roundRect">
                <a:avLst>
                  <a:gd fmla="val 8300" name="adj"/>
                </a:avLst>
              </a:prstGeom>
              <a:gradFill>
                <a:gsLst>
                  <a:gs pos="0">
                    <a:srgbClr val="E3F1FF"/>
                  </a:gs>
                  <a:gs pos="100000">
                    <a:srgbClr val="FFFFFF"/>
                  </a:gs>
                </a:gsLst>
                <a:lin ang="8100019" scaled="0"/>
              </a:gradFill>
              <a:ln cap="flat" cmpd="sng" w="38100">
                <a:solidFill>
                  <a:srgbClr val="43B1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3"/>
              <p:cNvSpPr txBox="1"/>
              <p:nvPr/>
            </p:nvSpPr>
            <p:spPr>
              <a:xfrm>
                <a:off x="621990" y="9503032"/>
                <a:ext cx="9633600" cy="65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240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t/>
                </a:r>
                <a:endParaRPr b="1" sz="3540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540"/>
                  <a:buFont typeface="Arial"/>
                  <a:buNone/>
                </a:pPr>
                <a:r>
                  <a:t/>
                </a:r>
                <a:endParaRPr b="1" i="0" sz="3540" u="none" cap="none" strike="noStrike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cxnSp>
            <p:nvCxnSpPr>
              <p:cNvPr id="114" name="Google Shape;114;p13"/>
              <p:cNvCxnSpPr/>
              <p:nvPr/>
            </p:nvCxnSpPr>
            <p:spPr>
              <a:xfrm>
                <a:off x="1541525" y="9074432"/>
                <a:ext cx="78939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1F678F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15" name="Google Shape;115;p13"/>
          <p:cNvSpPr/>
          <p:nvPr/>
        </p:nvSpPr>
        <p:spPr>
          <a:xfrm>
            <a:off x="22608500" y="4928328"/>
            <a:ext cx="9702300" cy="6585300"/>
          </a:xfrm>
          <a:prstGeom prst="roundRect">
            <a:avLst>
              <a:gd fmla="val 108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3" title="UML_diagram-02_Class_Diagram.drawio.png"/>
          <p:cNvPicPr preferRelativeResize="0"/>
          <p:nvPr/>
        </p:nvPicPr>
        <p:blipFill rotWithShape="1">
          <a:blip r:embed="rId5">
            <a:alphaModFix/>
          </a:blip>
          <a:srcRect b="6148" l="0" r="0" t="11655"/>
          <a:stretch/>
        </p:blipFill>
        <p:spPr>
          <a:xfrm>
            <a:off x="23155000" y="5219475"/>
            <a:ext cx="8834430" cy="612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/>
          <p:nvPr/>
        </p:nvSpPr>
        <p:spPr>
          <a:xfrm>
            <a:off x="22608500" y="13354555"/>
            <a:ext cx="9702300" cy="7164000"/>
          </a:xfrm>
          <a:prstGeom prst="roundRect">
            <a:avLst>
              <a:gd fmla="val 108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22608525" y="30976027"/>
            <a:ext cx="9702300" cy="5611200"/>
          </a:xfrm>
          <a:prstGeom prst="roundRect">
            <a:avLst>
              <a:gd fmla="val 108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13"/>
          <p:cNvGrpSpPr/>
          <p:nvPr/>
        </p:nvGrpSpPr>
        <p:grpSpPr>
          <a:xfrm>
            <a:off x="10870775" y="3568351"/>
            <a:ext cx="11207205" cy="22254988"/>
            <a:chOff x="406787" y="10403767"/>
            <a:chExt cx="10162500" cy="6509400"/>
          </a:xfrm>
        </p:grpSpPr>
        <p:sp>
          <p:nvSpPr>
            <p:cNvPr id="120" name="Google Shape;120;p13"/>
            <p:cNvSpPr/>
            <p:nvPr/>
          </p:nvSpPr>
          <p:spPr>
            <a:xfrm>
              <a:off x="406787" y="10403767"/>
              <a:ext cx="10162500" cy="6509400"/>
            </a:xfrm>
            <a:prstGeom prst="roundRect">
              <a:avLst>
                <a:gd fmla="val 4863" name="adj"/>
              </a:avLst>
            </a:prstGeom>
            <a:gradFill>
              <a:gsLst>
                <a:gs pos="0">
                  <a:srgbClr val="E3FFFC"/>
                </a:gs>
                <a:gs pos="100000">
                  <a:srgbClr val="FFFFFF"/>
                </a:gs>
              </a:gsLst>
              <a:lin ang="8099331" scaled="0"/>
            </a:gradFill>
            <a:ln cap="flat" cmpd="sng" w="38100">
              <a:solidFill>
                <a:srgbClr val="4CD8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3"/>
            <p:cNvSpPr txBox="1"/>
            <p:nvPr/>
          </p:nvSpPr>
          <p:spPr>
            <a:xfrm>
              <a:off x="671250" y="10458400"/>
              <a:ext cx="96336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40"/>
                <a:buFont typeface="Arial"/>
                <a:buNone/>
              </a:pPr>
              <a:r>
                <a:rPr b="1" i="0" lang="en" sz="3540" u="none" cap="none" strike="noStrike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rPr>
                <a:t>UI &amp; UX</a:t>
              </a:r>
              <a:endParaRPr b="1" i="0" sz="3540" u="none" cap="none" strike="noStrike">
                <a:solidFill>
                  <a:srgbClr val="1F678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22" name="Google Shape;122;p13"/>
            <p:cNvCxnSpPr/>
            <p:nvPr/>
          </p:nvCxnSpPr>
          <p:spPr>
            <a:xfrm>
              <a:off x="1541091" y="10714371"/>
              <a:ext cx="7893900" cy="0"/>
            </a:xfrm>
            <a:prstGeom prst="straightConnector1">
              <a:avLst/>
            </a:prstGeom>
            <a:noFill/>
            <a:ln cap="flat" cmpd="sng" w="28575">
              <a:solidFill>
                <a:srgbClr val="1F678F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123" name="Google Shape;123;p13"/>
          <p:cNvSpPr/>
          <p:nvPr/>
        </p:nvSpPr>
        <p:spPr>
          <a:xfrm>
            <a:off x="6873525" y="1762483"/>
            <a:ext cx="965100" cy="939900"/>
          </a:xfrm>
          <a:prstGeom prst="roundRect">
            <a:avLst>
              <a:gd fmla="val 292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3" title="icons8-leaf-100 (1).png"/>
          <p:cNvPicPr preferRelativeResize="0"/>
          <p:nvPr/>
        </p:nvPicPr>
        <p:blipFill rotWithShape="1">
          <a:blip r:embed="rId6">
            <a:alphaModFix/>
          </a:blip>
          <a:srcRect b="10104" l="8240" r="12609" t="14321"/>
          <a:stretch/>
        </p:blipFill>
        <p:spPr>
          <a:xfrm>
            <a:off x="7023563" y="1944188"/>
            <a:ext cx="656900" cy="62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3" title="Screenshot 2026-04-23 21013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79050" y="31411250"/>
            <a:ext cx="9293425" cy="474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/>
          <p:nvPr/>
        </p:nvSpPr>
        <p:spPr>
          <a:xfrm>
            <a:off x="10870775" y="26114762"/>
            <a:ext cx="11182800" cy="10645800"/>
          </a:xfrm>
          <a:prstGeom prst="roundRect">
            <a:avLst>
              <a:gd fmla="val 5713" name="adj"/>
            </a:avLst>
          </a:prstGeom>
          <a:gradFill>
            <a:gsLst>
              <a:gs pos="0">
                <a:srgbClr val="E3F1FF"/>
              </a:gs>
              <a:gs pos="100000">
                <a:srgbClr val="FFFFFF"/>
              </a:gs>
            </a:gsLst>
            <a:lin ang="8100019" scaled="0"/>
          </a:gradFill>
          <a:ln cap="flat" cmpd="sng" w="38100">
            <a:solidFill>
              <a:srgbClr val="43B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13"/>
          <p:cNvGrpSpPr/>
          <p:nvPr/>
        </p:nvGrpSpPr>
        <p:grpSpPr>
          <a:xfrm>
            <a:off x="10873062" y="37053155"/>
            <a:ext cx="11207205" cy="6397683"/>
            <a:chOff x="406810" y="3568390"/>
            <a:chExt cx="10162500" cy="6519600"/>
          </a:xfrm>
        </p:grpSpPr>
        <p:sp>
          <p:nvSpPr>
            <p:cNvPr id="128" name="Google Shape;128;p13"/>
            <p:cNvSpPr/>
            <p:nvPr/>
          </p:nvSpPr>
          <p:spPr>
            <a:xfrm>
              <a:off x="406810" y="3568390"/>
              <a:ext cx="10162500" cy="6519600"/>
            </a:xfrm>
            <a:prstGeom prst="roundRect">
              <a:avLst>
                <a:gd fmla="val 8300" name="adj"/>
              </a:avLst>
            </a:prstGeom>
            <a:gradFill>
              <a:gsLst>
                <a:gs pos="0">
                  <a:srgbClr val="E3FFFC"/>
                </a:gs>
                <a:gs pos="100000">
                  <a:srgbClr val="FFFFFF"/>
                </a:gs>
              </a:gsLst>
              <a:lin ang="8100019" scaled="0"/>
            </a:gradFill>
            <a:ln cap="flat" cmpd="sng" w="38100">
              <a:solidFill>
                <a:srgbClr val="4CD8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3"/>
            <p:cNvSpPr txBox="1"/>
            <p:nvPr/>
          </p:nvSpPr>
          <p:spPr>
            <a:xfrm>
              <a:off x="1014774" y="5131363"/>
              <a:ext cx="8942400" cy="39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40640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rgbClr val="0C343D"/>
                </a:buClr>
                <a:buSzPts val="2800"/>
                <a:buFont typeface="Poppins"/>
                <a:buChar char="●"/>
              </a:pPr>
              <a:r>
                <a:rPr lang="en"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rPr>
                <a:t>Improves efficiency through automation and real-time data integration.</a:t>
              </a:r>
              <a:endParaRPr sz="2800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000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40640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rgbClr val="0C343D"/>
                </a:buClr>
                <a:buSzPts val="2800"/>
                <a:buFont typeface="Poppins"/>
                <a:buChar char="●"/>
              </a:pPr>
              <a:r>
                <a:rPr lang="en"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rPr>
                <a:t>Reduces operational cost and prevents waste overflow.</a:t>
              </a:r>
              <a:endParaRPr sz="2800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000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406400" lvl="0" marL="457200" rtl="0" algn="just">
                <a:spcBef>
                  <a:spcPts val="0"/>
                </a:spcBef>
                <a:spcAft>
                  <a:spcPts val="0"/>
                </a:spcAft>
                <a:buClr>
                  <a:srgbClr val="0C343D"/>
                </a:buClr>
                <a:buSzPts val="2800"/>
                <a:buFont typeface="Poppins"/>
                <a:buChar char="●"/>
              </a:pPr>
              <a:r>
                <a:rPr lang="en" sz="2800">
                  <a:solidFill>
                    <a:srgbClr val="0C343D"/>
                  </a:solidFill>
                  <a:latin typeface="Poppins"/>
                  <a:ea typeface="Poppins"/>
                  <a:cs typeface="Poppins"/>
                  <a:sym typeface="Poppins"/>
                </a:rPr>
                <a:t>Supports sustainable and smart city waste management practices.</a:t>
              </a:r>
              <a:endParaRPr sz="2800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0" name="Google Shape;130;p13"/>
            <p:cNvSpPr txBox="1"/>
            <p:nvPr/>
          </p:nvSpPr>
          <p:spPr>
            <a:xfrm>
              <a:off x="621989" y="3789856"/>
              <a:ext cx="9633600" cy="78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40"/>
                <a:buFont typeface="Arial"/>
                <a:buNone/>
              </a:pPr>
              <a:r>
                <a:rPr b="1" lang="en" sz="3540">
                  <a:solidFill>
                    <a:srgbClr val="1F8F6E"/>
                  </a:solidFill>
                  <a:latin typeface="Poppins"/>
                  <a:ea typeface="Poppins"/>
                  <a:cs typeface="Poppins"/>
                  <a:sym typeface="Poppins"/>
                </a:rPr>
                <a:t>Conclusion</a:t>
              </a:r>
              <a:endParaRPr b="1" i="0" sz="3540" u="none" cap="none" strike="noStrike">
                <a:solidFill>
                  <a:srgbClr val="1F8F6E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40"/>
                <a:buFont typeface="Arial"/>
                <a:buNone/>
              </a:pPr>
              <a:r>
                <a:t/>
              </a:r>
              <a:endParaRPr b="1" i="0" sz="3540" u="none" cap="none" strike="noStrike">
                <a:solidFill>
                  <a:srgbClr val="1F8F6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31" name="Google Shape;131;p13"/>
            <p:cNvCxnSpPr/>
            <p:nvPr/>
          </p:nvCxnSpPr>
          <p:spPr>
            <a:xfrm>
              <a:off x="1541125" y="4714270"/>
              <a:ext cx="7893900" cy="0"/>
            </a:xfrm>
            <a:prstGeom prst="straightConnector1">
              <a:avLst/>
            </a:prstGeom>
            <a:noFill/>
            <a:ln cap="flat" cmpd="sng" w="28575">
              <a:solidFill>
                <a:srgbClr val="1F8F6E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132" name="Google Shape;132;p13"/>
          <p:cNvGrpSpPr/>
          <p:nvPr/>
        </p:nvGrpSpPr>
        <p:grpSpPr>
          <a:xfrm>
            <a:off x="11147225" y="26302572"/>
            <a:ext cx="10623934" cy="939987"/>
            <a:chOff x="621979" y="3921283"/>
            <a:chExt cx="9633600" cy="957900"/>
          </a:xfrm>
        </p:grpSpPr>
        <p:sp>
          <p:nvSpPr>
            <p:cNvPr id="133" name="Google Shape;133;p13"/>
            <p:cNvSpPr txBox="1"/>
            <p:nvPr/>
          </p:nvSpPr>
          <p:spPr>
            <a:xfrm>
              <a:off x="621979" y="3921283"/>
              <a:ext cx="9633600" cy="9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40"/>
                <a:buFont typeface="Arial"/>
                <a:buNone/>
              </a:pPr>
              <a:r>
                <a:rPr b="1" lang="en" sz="3540">
                  <a:solidFill>
                    <a:srgbClr val="1F678F"/>
                  </a:solidFill>
                  <a:latin typeface="Poppins"/>
                  <a:ea typeface="Poppins"/>
                  <a:cs typeface="Poppins"/>
                  <a:sym typeface="Poppins"/>
                </a:rPr>
                <a:t>ER Diagram</a:t>
              </a:r>
              <a:endParaRPr b="1" sz="3540">
                <a:solidFill>
                  <a:srgbClr val="1F678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40"/>
                <a:buFont typeface="Arial"/>
                <a:buNone/>
              </a:pPr>
              <a:r>
                <a:t/>
              </a:r>
              <a:endParaRPr b="1" sz="3540">
                <a:solidFill>
                  <a:srgbClr val="1F678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40"/>
                <a:buFont typeface="Arial"/>
                <a:buNone/>
              </a:pPr>
              <a:r>
                <a:t/>
              </a:r>
              <a:endParaRPr b="1" sz="3540">
                <a:solidFill>
                  <a:srgbClr val="1F8F6E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40"/>
                <a:buFont typeface="Arial"/>
                <a:buNone/>
              </a:pPr>
              <a:r>
                <a:t/>
              </a:r>
              <a:endParaRPr b="1" i="0" sz="3540" u="none" cap="none" strike="noStrike">
                <a:solidFill>
                  <a:srgbClr val="1F8F6E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34" name="Google Shape;134;p13"/>
            <p:cNvCxnSpPr/>
            <p:nvPr/>
          </p:nvCxnSpPr>
          <p:spPr>
            <a:xfrm>
              <a:off x="1541125" y="4845712"/>
              <a:ext cx="7893900" cy="0"/>
            </a:xfrm>
            <a:prstGeom prst="straightConnector1">
              <a:avLst/>
            </a:prstGeom>
            <a:noFill/>
            <a:ln cap="flat" cmpd="sng" w="28575">
              <a:solidFill>
                <a:srgbClr val="1F678F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135" name="Google Shape;135;p13"/>
          <p:cNvSpPr/>
          <p:nvPr/>
        </p:nvSpPr>
        <p:spPr>
          <a:xfrm>
            <a:off x="11147225" y="27501325"/>
            <a:ext cx="10623900" cy="8934600"/>
          </a:xfrm>
          <a:prstGeom prst="roundRect">
            <a:avLst>
              <a:gd fmla="val 60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3" title="Updated_ER_Diagram-00_Overview.drawio.png"/>
          <p:cNvPicPr preferRelativeResize="0"/>
          <p:nvPr/>
        </p:nvPicPr>
        <p:blipFill rotWithShape="1">
          <a:blip r:embed="rId8">
            <a:alphaModFix/>
          </a:blip>
          <a:srcRect b="-1353" l="0" r="0" t="8666"/>
          <a:stretch/>
        </p:blipFill>
        <p:spPr>
          <a:xfrm>
            <a:off x="11302800" y="27813950"/>
            <a:ext cx="10343125" cy="82780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/>
        </p:nvSpPr>
        <p:spPr>
          <a:xfrm>
            <a:off x="22608500" y="21351725"/>
            <a:ext cx="97023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40"/>
              <a:buFont typeface="Arial"/>
              <a:buNone/>
            </a:pPr>
            <a:r>
              <a:rPr b="1" lang="en" sz="3540">
                <a:solidFill>
                  <a:srgbClr val="1F678F"/>
                </a:solidFill>
                <a:latin typeface="Poppins"/>
                <a:ea typeface="Poppins"/>
                <a:cs typeface="Poppins"/>
                <a:sym typeface="Poppins"/>
              </a:rPr>
              <a:t>Functional &amp; Non-functional</a:t>
            </a:r>
            <a:endParaRPr b="1" sz="3540">
              <a:solidFill>
                <a:srgbClr val="1F678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40"/>
              <a:buFont typeface="Arial"/>
              <a:buNone/>
            </a:pPr>
            <a:r>
              <a:t/>
            </a:r>
            <a:endParaRPr b="1" sz="3540">
              <a:solidFill>
                <a:srgbClr val="1F678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40"/>
              <a:buFont typeface="Arial"/>
              <a:buNone/>
            </a:pPr>
            <a:r>
              <a:t/>
            </a:r>
            <a:endParaRPr b="1" sz="3540">
              <a:solidFill>
                <a:srgbClr val="1F8F6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0"/>
              <a:buFont typeface="Arial"/>
              <a:buNone/>
            </a:pPr>
            <a:r>
              <a:t/>
            </a:r>
            <a:endParaRPr b="1" i="0" sz="3540" u="none" cap="none" strike="noStrike">
              <a:solidFill>
                <a:srgbClr val="1F8F6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1100700" y="4952975"/>
            <a:ext cx="5285700" cy="8957400"/>
          </a:xfrm>
          <a:prstGeom prst="rect">
            <a:avLst/>
          </a:prstGeom>
          <a:noFill/>
          <a:ln cap="flat" cmpd="sng" w="9525">
            <a:solidFill>
              <a:srgbClr val="4CD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22604917" y="22752450"/>
            <a:ext cx="9702300" cy="6397800"/>
          </a:xfrm>
          <a:prstGeom prst="roundRect">
            <a:avLst>
              <a:gd fmla="val 108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3" title="Screenshot 2026-04-23 21510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198406" y="22921948"/>
            <a:ext cx="8468874" cy="607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3" title="Untitled Diagram.drawi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294525" y="13493375"/>
            <a:ext cx="6276600" cy="6712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13"/>
          <p:cNvGrpSpPr/>
          <p:nvPr/>
        </p:nvGrpSpPr>
        <p:grpSpPr>
          <a:xfrm>
            <a:off x="11107475" y="4952979"/>
            <a:ext cx="10737338" cy="20490938"/>
            <a:chOff x="11107475" y="4952979"/>
            <a:chExt cx="10737338" cy="20490938"/>
          </a:xfrm>
        </p:grpSpPr>
        <p:grpSp>
          <p:nvGrpSpPr>
            <p:cNvPr id="143" name="Google Shape;143;p13"/>
            <p:cNvGrpSpPr/>
            <p:nvPr/>
          </p:nvGrpSpPr>
          <p:grpSpPr>
            <a:xfrm>
              <a:off x="11107475" y="4952979"/>
              <a:ext cx="10737338" cy="20490938"/>
              <a:chOff x="11013665" y="4627710"/>
              <a:chExt cx="11095730" cy="20616700"/>
            </a:xfrm>
          </p:grpSpPr>
          <p:pic>
            <p:nvPicPr>
              <p:cNvPr id="144" name="Google Shape;144;p1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6557338" y="4627710"/>
                <a:ext cx="5534772" cy="4671554"/>
              </a:xfrm>
              <a:prstGeom prst="rect">
                <a:avLst/>
              </a:prstGeom>
              <a:noFill/>
              <a:ln cap="flat" cmpd="sng" w="9525">
                <a:solidFill>
                  <a:srgbClr val="4CD8AF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pic>
            <p:nvPicPr>
              <p:cNvPr id="145" name="Google Shape;145;p13" title="Screenshot 2026-04-22 043037.png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16567854" y="13097891"/>
                <a:ext cx="5534797" cy="3907920"/>
              </a:xfrm>
              <a:prstGeom prst="rect">
                <a:avLst/>
              </a:prstGeom>
              <a:noFill/>
              <a:ln cap="flat" cmpd="sng" w="9525">
                <a:solidFill>
                  <a:srgbClr val="4CD8AF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pic>
            <p:nvPicPr>
              <p:cNvPr id="146" name="Google Shape;146;p13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11013677" y="13753767"/>
                <a:ext cx="5445565" cy="3252038"/>
              </a:xfrm>
              <a:prstGeom prst="rect">
                <a:avLst/>
              </a:prstGeom>
              <a:noFill/>
              <a:ln cap="flat" cmpd="sng" w="9525">
                <a:solidFill>
                  <a:srgbClr val="4CD8AF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pic>
            <p:nvPicPr>
              <p:cNvPr id="147" name="Google Shape;147;p1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16567852" y="9404496"/>
                <a:ext cx="5534797" cy="3588154"/>
              </a:xfrm>
              <a:prstGeom prst="rect">
                <a:avLst/>
              </a:prstGeom>
              <a:noFill/>
              <a:ln cap="flat" cmpd="sng" w="9525">
                <a:solidFill>
                  <a:srgbClr val="4CD8AF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pic>
            <p:nvPicPr>
              <p:cNvPr id="148" name="Google Shape;148;p13"/>
              <p:cNvPicPr preferRelativeResize="0"/>
              <p:nvPr/>
            </p:nvPicPr>
            <p:blipFill rotWithShape="1">
              <a:blip r:embed="rId15">
                <a:alphaModFix/>
              </a:blip>
              <a:srcRect b="1429" l="0" r="0" t="0"/>
              <a:stretch/>
            </p:blipFill>
            <p:spPr>
              <a:xfrm>
                <a:off x="11013677" y="17111035"/>
                <a:ext cx="11095718" cy="8133375"/>
              </a:xfrm>
              <a:prstGeom prst="rect">
                <a:avLst/>
              </a:prstGeom>
              <a:noFill/>
              <a:ln cap="flat" cmpd="sng" w="9525">
                <a:solidFill>
                  <a:srgbClr val="4CD8AF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grpSp>
            <p:nvGrpSpPr>
              <p:cNvPr id="149" name="Google Shape;149;p13"/>
              <p:cNvGrpSpPr/>
              <p:nvPr/>
            </p:nvGrpSpPr>
            <p:grpSpPr>
              <a:xfrm>
                <a:off x="11013665" y="4632712"/>
                <a:ext cx="5450502" cy="9000909"/>
                <a:chOff x="35886353" y="7477919"/>
                <a:chExt cx="18488812" cy="30532254"/>
              </a:xfrm>
            </p:grpSpPr>
            <p:pic>
              <p:nvPicPr>
                <p:cNvPr id="150" name="Google Shape;150;p13" title="Screenshot 2026-04-22 042127.png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220" r="0" t="0"/>
                <a:stretch/>
              </p:blipFill>
              <p:spPr>
                <a:xfrm>
                  <a:off x="35886353" y="7477919"/>
                  <a:ext cx="18472073" cy="907665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51" name="Google Shape;151;p13"/>
                <p:cNvGrpSpPr/>
                <p:nvPr/>
              </p:nvGrpSpPr>
              <p:grpSpPr>
                <a:xfrm>
                  <a:off x="35886353" y="16538019"/>
                  <a:ext cx="18488812" cy="21472154"/>
                  <a:chOff x="34095653" y="-4661881"/>
                  <a:chExt cx="18488812" cy="21472154"/>
                </a:xfrm>
              </p:grpSpPr>
              <p:pic>
                <p:nvPicPr>
                  <p:cNvPr id="152" name="Google Shape;152;p13" title="Screenshot 2026-04-22 042146.png"/>
                  <p:cNvPicPr preferRelativeResize="0"/>
                  <p:nvPr/>
                </p:nvPicPr>
                <p:blipFill rotWithShape="1">
                  <a:blip r:embed="rId17">
                    <a:alphaModFix/>
                  </a:blip>
                  <a:srcRect b="0" l="210" r="0" t="0"/>
                  <a:stretch/>
                </p:blipFill>
                <p:spPr>
                  <a:xfrm>
                    <a:off x="34095653" y="-4661881"/>
                    <a:ext cx="18488812" cy="81128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53" name="Google Shape;153;p13" title="Screenshot 2026-04-22 042212.png"/>
                  <p:cNvPicPr preferRelativeResize="0"/>
                  <p:nvPr/>
                </p:nvPicPr>
                <p:blipFill rotWithShape="1">
                  <a:blip r:embed="rId18">
                    <a:alphaModFix/>
                  </a:blip>
                  <a:srcRect b="0" l="0" r="0" t="0"/>
                  <a:stretch/>
                </p:blipFill>
                <p:spPr>
                  <a:xfrm>
                    <a:off x="34095695" y="3248833"/>
                    <a:ext cx="18472073" cy="77153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54" name="Google Shape;154;p13" title="Screenshot 2026-04-22 042232.png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34095695" y="10857153"/>
                    <a:ext cx="18472073" cy="5953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sp>
          <p:nvSpPr>
            <p:cNvPr id="155" name="Google Shape;155;p13"/>
            <p:cNvSpPr/>
            <p:nvPr/>
          </p:nvSpPr>
          <p:spPr>
            <a:xfrm>
              <a:off x="17242225" y="13934601"/>
              <a:ext cx="1368900" cy="159000"/>
            </a:xfrm>
            <a:prstGeom prst="rect">
              <a:avLst/>
            </a:prstGeom>
            <a:solidFill>
              <a:srgbClr val="FCFD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Jost SemiBold"/>
                  <a:ea typeface="Jost SemiBold"/>
                  <a:cs typeface="Jost SemiBold"/>
                  <a:sym typeface="Jost SemiBold"/>
                </a:rPr>
                <a:t>User Dashboard</a:t>
              </a:r>
              <a:endParaRPr sz="1100">
                <a:latin typeface="Jost SemiBold"/>
                <a:ea typeface="Jost SemiBold"/>
                <a:cs typeface="Jost SemiBold"/>
                <a:sym typeface="Jost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F9FBFA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